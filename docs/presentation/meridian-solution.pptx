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2FF"/>
                </a:solidFill>
                <a:latin typeface="Arial"/>
              </a:defRPr>
            </a:pPr>
            <a:r>
              <a:t>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1F61"/>
                </a:solidFill>
                <a:latin typeface="Arial"/>
              </a:defRPr>
            </a:pPr>
            <a:r>
              <a:t>Know what matters.</a:t>
            </a:r>
          </a:p>
          <a:p>
            <a:pPr>
              <a:defRPr sz="3400" b="1">
                <a:solidFill>
                  <a:srgbClr val="001F61"/>
                </a:solidFill>
                <a:latin typeface="Arial"/>
              </a:defRPr>
            </a:pPr>
            <a:r>
              <a:t>Before the conversation.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000B24"/>
                </a:solidFill>
                <a:latin typeface="Arial"/>
              </a:defRPr>
            </a:pPr>
            <a:r>
              <a:t>Turn scattered records into a clear renewal discussion. Review evidence, resolve conflicts, and keep the producer in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3535680" cy="2057400"/>
          </a:xfrm>
          <a:prstGeom prst="roundRect">
            <a:avLst/>
          </a:prstGeom>
          <a:solidFill>
            <a:srgbClr val="F0F5FF"/>
          </a:solidFill>
          <a:ln>
            <a:solidFill>
              <a:srgbClr val="C7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316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1F61"/>
                </a:solidFill>
                <a:latin typeface="Arial"/>
              </a:defRPr>
            </a:pPr>
            <a:r>
              <a:t>See the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316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00B24"/>
                </a:solidFill>
                <a:latin typeface="Arial"/>
              </a:defRPr>
            </a:pPr>
            <a:r>
              <a:t>Renewal priorities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2920" y="3017520"/>
            <a:ext cx="3535680" cy="2057400"/>
          </a:xfrm>
          <a:prstGeom prst="roundRect">
            <a:avLst/>
          </a:prstGeom>
          <a:solidFill>
            <a:srgbClr val="F0F5FF"/>
          </a:solidFill>
          <a:ln>
            <a:solidFill>
              <a:srgbClr val="C7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800" y="3246120"/>
            <a:ext cx="316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1F61"/>
                </a:solidFill>
                <a:latin typeface="Arial"/>
              </a:defRPr>
            </a:pPr>
            <a:r>
              <a:t>Check the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800" y="4023360"/>
            <a:ext cx="316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00B24"/>
                </a:solidFill>
                <a:latin typeface="Arial"/>
              </a:defRPr>
            </a:pPr>
            <a:r>
              <a:t>Sources and conflicts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3017520"/>
            <a:ext cx="3535680" cy="2057400"/>
          </a:xfrm>
          <a:prstGeom prst="roundRect">
            <a:avLst/>
          </a:prstGeom>
          <a:solidFill>
            <a:srgbClr val="F0F5FF"/>
          </a:solidFill>
          <a:ln>
            <a:solidFill>
              <a:srgbClr val="C7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0080" y="3246120"/>
            <a:ext cx="316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1F61"/>
                </a:solidFill>
                <a:latin typeface="Arial"/>
              </a:defRPr>
            </a:pPr>
            <a:r>
              <a:t>Choose the next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0080" y="4023360"/>
            <a:ext cx="316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00B24"/>
                </a:solidFill>
                <a:latin typeface="Arial"/>
              </a:defRPr>
            </a:pPr>
            <a:r>
              <a:t>Producer judgement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0B24"/>
                </a:solidFill>
                <a:latin typeface="Arial"/>
              </a:defRPr>
            </a:pPr>
            <a:r>
              <a:t>MERIDIAN · Fictional brokerage · Synthetic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52FF"/>
                </a:solidFill>
                <a:latin typeface="Arial"/>
              </a:defRPr>
            </a:pPr>
            <a:r>
              <a:t>01/06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2FF"/>
                </a:solidFill>
                <a:latin typeface="Arial"/>
              </a:defRPr>
            </a:pPr>
            <a:r>
              <a:t>AUTHORIZED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1F61"/>
                </a:solidFill>
                <a:latin typeface="Arial"/>
              </a:defRPr>
            </a:pPr>
            <a:r>
              <a:t>Real records. Authorized scope.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017520"/>
            <a:ext cx="3535680" cy="2057400"/>
          </a:xfrm>
          <a:prstGeom prst="roundRect">
            <a:avLst/>
          </a:prstGeom>
          <a:solidFill>
            <a:srgbClr val="F0F5FF"/>
          </a:solidFill>
          <a:ln>
            <a:solidFill>
              <a:srgbClr val="C7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316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1F61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316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00B24"/>
                </a:solidFill>
                <a:latin typeface="Arial"/>
              </a:defRPr>
            </a:pPr>
            <a:r>
              <a:t>Authorized clients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920" y="3017520"/>
            <a:ext cx="3535680" cy="2057400"/>
          </a:xfrm>
          <a:prstGeom prst="roundRect">
            <a:avLst/>
          </a:prstGeom>
          <a:solidFill>
            <a:srgbClr val="F0F5FF"/>
          </a:solidFill>
          <a:ln>
            <a:solidFill>
              <a:srgbClr val="C7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5800" y="3246120"/>
            <a:ext cx="316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1F61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800" y="4023360"/>
            <a:ext cx="316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00B24"/>
                </a:solidFill>
                <a:latin typeface="Arial"/>
              </a:defRPr>
            </a:pPr>
            <a:r>
              <a:t>Producers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7200" y="3017520"/>
            <a:ext cx="3535680" cy="2057400"/>
          </a:xfrm>
          <a:prstGeom prst="roundRect">
            <a:avLst/>
          </a:prstGeom>
          <a:solidFill>
            <a:srgbClr val="F0F5FF"/>
          </a:solidFill>
          <a:ln>
            <a:solidFill>
              <a:srgbClr val="C7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0080" y="3246120"/>
            <a:ext cx="316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1F61"/>
                </a:solidFill>
                <a:latin typeface="Arial"/>
              </a:defRPr>
            </a:pPr>
            <a:r>
              <a:t>$5.44M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0080" y="4023360"/>
            <a:ext cx="316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00B24"/>
                </a:solidFill>
                <a:latin typeface="Arial"/>
              </a:defRPr>
            </a:pPr>
            <a:r>
              <a:t>Annual premium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492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B24"/>
                </a:solidFill>
                <a:latin typeface="Arial"/>
              </a:defRPr>
            </a:pPr>
            <a:r>
              <a:t>Jordan Davis: 5 clients / $3.33M    ·    Priya Nair: 4 / $2.11M</a:t>
            </a:r>
          </a:p>
          <a:p>
            <a:pPr>
              <a:defRPr sz="1600" b="0">
                <a:solidFill>
                  <a:srgbClr val="000B24"/>
                </a:solidFill>
                <a:latin typeface="Arial"/>
              </a:defRPr>
            </a:pPr>
            <a:r>
              <a:t>Synthetic finance: 12% commission; 35% paid loss; 100% retained demo outcomes.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0B24"/>
                </a:solidFill>
                <a:latin typeface="Arial"/>
              </a:defRPr>
            </a:pPr>
            <a:r>
              <a:t>MERIDIAN · Fictional brokerage · Synthetic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52FF"/>
                </a:solidFill>
                <a:latin typeface="Arial"/>
              </a:defRPr>
            </a:pPr>
            <a:r>
              <a:t>02/06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2FF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1F61"/>
                </a:solidFill>
                <a:latin typeface="Arial"/>
              </a:defRPr>
            </a:pPr>
            <a:r>
              <a:t>Simple boundaries. Clear responsibilities.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000B24"/>
                </a:solidFill>
                <a:latin typeface="Arial"/>
              </a:defRPr>
            </a:pPr>
            <a:r>
              <a:t>Permissions and typed contracts protect every boundary. Business records stay relational; AI produces a reviewable brief.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3535680" cy="2057400"/>
          </a:xfrm>
          <a:prstGeom prst="roundRect">
            <a:avLst/>
          </a:prstGeom>
          <a:solidFill>
            <a:srgbClr val="F0F5FF"/>
          </a:solidFill>
          <a:ln>
            <a:solidFill>
              <a:srgbClr val="C7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316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1F61"/>
                </a:solidFill>
                <a:latin typeface="Arial"/>
              </a:defRPr>
            </a:pPr>
            <a:r>
              <a:t>React + 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316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00B24"/>
                </a:solidFill>
                <a:latin typeface="Arial"/>
              </a:defRPr>
            </a:pPr>
            <a:r>
              <a:t>Browser workspace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2920" y="3017520"/>
            <a:ext cx="3535680" cy="2057400"/>
          </a:xfrm>
          <a:prstGeom prst="roundRect">
            <a:avLst/>
          </a:prstGeom>
          <a:solidFill>
            <a:srgbClr val="F0F5FF"/>
          </a:solidFill>
          <a:ln>
            <a:solidFill>
              <a:srgbClr val="C7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800" y="3246120"/>
            <a:ext cx="316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1F61"/>
                </a:solidFill>
                <a:latin typeface="Arial"/>
              </a:defRPr>
            </a:pPr>
            <a:r>
              <a:t>FastAPI + Pydantic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800" y="4023360"/>
            <a:ext cx="316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00B24"/>
                </a:solidFill>
                <a:latin typeface="Arial"/>
              </a:defRPr>
            </a:pPr>
            <a:r>
              <a:t>Permissions + typed contracts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3017520"/>
            <a:ext cx="3535680" cy="2057400"/>
          </a:xfrm>
          <a:prstGeom prst="roundRect">
            <a:avLst/>
          </a:prstGeom>
          <a:solidFill>
            <a:srgbClr val="F0F5FF"/>
          </a:solidFill>
          <a:ln>
            <a:solidFill>
              <a:srgbClr val="C7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0080" y="3246120"/>
            <a:ext cx="316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1F61"/>
                </a:solidFill>
                <a:latin typeface="Arial"/>
              </a:defRPr>
            </a:pPr>
            <a:r>
              <a:t>SQLite +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0080" y="4023360"/>
            <a:ext cx="316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00B24"/>
                </a:solidFill>
                <a:latin typeface="Arial"/>
              </a:defRPr>
            </a:pPr>
            <a:r>
              <a:t>Relational sources + reviewable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0B24"/>
                </a:solidFill>
                <a:latin typeface="Arial"/>
              </a:defRPr>
            </a:pPr>
            <a:r>
              <a:t>MERIDIAN · Fictional brokerage · Synthetic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52FF"/>
                </a:solidFill>
                <a:latin typeface="Arial"/>
              </a:defRPr>
            </a:pPr>
            <a:r>
              <a:t>03/06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2FF"/>
                </a:solidFill>
                <a:latin typeface="Arial"/>
              </a:defRPr>
            </a:pPr>
            <a:r>
              <a:t>GROUNDED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1F61"/>
                </a:solidFill>
                <a:latin typeface="Arial"/>
              </a:defRPr>
            </a:pPr>
            <a:r>
              <a:t>Evidence travels with the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000B24"/>
                </a:solidFill>
                <a:latin typeface="Arial"/>
              </a:defRPr>
            </a:pPr>
            <a:r>
              <a:t>Retrieve permitted evidence, validate structured output, and resolve canonical citations. If AI is unavailable, show a labeled source-based fallback.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3535680" cy="2057400"/>
          </a:xfrm>
          <a:prstGeom prst="roundRect">
            <a:avLst/>
          </a:prstGeom>
          <a:solidFill>
            <a:srgbClr val="F0F5FF"/>
          </a:solidFill>
          <a:ln>
            <a:solidFill>
              <a:srgbClr val="C7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316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1F61"/>
                </a:solidFill>
                <a:latin typeface="Arial"/>
              </a:defRPr>
            </a:pPr>
            <a:r>
              <a:t>Permissions → SQL FTS5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316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00B24"/>
                </a:solidFill>
                <a:latin typeface="Arial"/>
              </a:defRPr>
            </a:pPr>
            <a:r>
              <a:t>Only permitted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2920" y="3017520"/>
            <a:ext cx="3535680" cy="2057400"/>
          </a:xfrm>
          <a:prstGeom prst="roundRect">
            <a:avLst/>
          </a:prstGeom>
          <a:solidFill>
            <a:srgbClr val="F0F5FF"/>
          </a:solidFill>
          <a:ln>
            <a:solidFill>
              <a:srgbClr val="C7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800" y="3246120"/>
            <a:ext cx="316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1F61"/>
                </a:solidFill>
                <a:latin typeface="Arial"/>
              </a:defRPr>
            </a:pPr>
            <a:r>
              <a:t>Typed context →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800" y="4023360"/>
            <a:ext cx="316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00B24"/>
                </a:solidFill>
                <a:latin typeface="Arial"/>
              </a:defRPr>
            </a:pPr>
            <a:r>
              <a:t>Structured, grounded preparation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3017520"/>
            <a:ext cx="3535680" cy="2057400"/>
          </a:xfrm>
          <a:prstGeom prst="roundRect">
            <a:avLst/>
          </a:prstGeom>
          <a:solidFill>
            <a:srgbClr val="F0F5FF"/>
          </a:solidFill>
          <a:ln>
            <a:solidFill>
              <a:srgbClr val="C7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0080" y="3246120"/>
            <a:ext cx="316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1F61"/>
                </a:solidFill>
                <a:latin typeface="Arial"/>
              </a:defRPr>
            </a:pPr>
            <a:r>
              <a:t>Citations →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0080" y="4023360"/>
            <a:ext cx="316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00B24"/>
                </a:solidFill>
                <a:latin typeface="Arial"/>
              </a:defRPr>
            </a:pPr>
            <a:r>
              <a:t>Canonical sources; labeled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492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B24"/>
                </a:solidFill>
                <a:latin typeface="Arial"/>
              </a:defRPr>
            </a:pPr>
            <a:r>
              <a:t>User and source hashes prevent stale reuse.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0B24"/>
                </a:solidFill>
                <a:latin typeface="Arial"/>
              </a:defRPr>
            </a:pPr>
            <a:r>
              <a:t>MERIDIAN · Fictional brokerage · Synthetic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52FF"/>
                </a:solidFill>
                <a:latin typeface="Arial"/>
              </a:defRPr>
            </a:pPr>
            <a:r>
              <a:t>04/06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2FF"/>
                </a:solidFill>
                <a:latin typeface="Arial"/>
              </a:defRPr>
            </a:pPr>
            <a:r>
              <a:t>CURRENT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1F61"/>
                </a:solidFill>
                <a:latin typeface="Arial"/>
              </a:defRPr>
            </a:pPr>
            <a:r>
              <a:t>Prepare clearly. Act deliberately.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017520"/>
            <a:ext cx="5417820" cy="2057400"/>
          </a:xfrm>
          <a:prstGeom prst="roundRect">
            <a:avLst/>
          </a:prstGeom>
          <a:solidFill>
            <a:srgbClr val="F0F5FF"/>
          </a:solidFill>
          <a:ln>
            <a:solidFill>
              <a:srgbClr val="C7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50520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1F61"/>
                </a:solidFill>
                <a:latin typeface="Arial"/>
              </a:defRPr>
            </a:pPr>
            <a:r>
              <a:t>Producer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505205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00B24"/>
                </a:solidFill>
                <a:latin typeface="Arial"/>
              </a:defRPr>
            </a:pPr>
            <a:r>
              <a:t>Read brief; inspect sources; edit and manually copy draft.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59" y="3017520"/>
            <a:ext cx="5417820" cy="2057400"/>
          </a:xfrm>
          <a:prstGeom prst="roundRect">
            <a:avLst/>
          </a:prstGeom>
          <a:solidFill>
            <a:srgbClr val="F0F5FF"/>
          </a:solidFill>
          <a:ln>
            <a:solidFill>
              <a:srgbClr val="C7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7940" y="3246120"/>
            <a:ext cx="50520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1F61"/>
                </a:solidFill>
                <a:latin typeface="Arial"/>
              </a:defRPr>
            </a:pPr>
            <a:r>
              <a:t>Regional Leader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7940" y="4023360"/>
            <a:ext cx="505205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00B24"/>
                </a:solidFill>
                <a:latin typeface="Arial"/>
              </a:defRPr>
            </a:pPr>
            <a:r>
              <a:t>Prioritize renewals; open preparation; review database dashboard.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492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B24"/>
                </a:solidFill>
                <a:latin typeface="Arial"/>
              </a:defRPr>
            </a:pPr>
            <a:r>
              <a:t>No autonomous messages, policy changes, or coverage binding.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0B24"/>
                </a:solidFill>
                <a:latin typeface="Arial"/>
              </a:defRPr>
            </a:pPr>
            <a:r>
              <a:t>MERIDIAN · Fictional brokerage · Synthetic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52FF"/>
                </a:solidFill>
                <a:latin typeface="Arial"/>
              </a:defRPr>
            </a:pPr>
            <a:r>
              <a:t>05/06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2FF"/>
                </a:solidFill>
                <a:latin typeface="Arial"/>
              </a:defRPr>
            </a:pPr>
            <a:r>
              <a:t>EVIDENCE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1F61"/>
                </a:solidFill>
                <a:latin typeface="Arial"/>
              </a:defRPr>
            </a:pPr>
            <a:r>
              <a:t>A working foundation. Honest limits.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017520"/>
            <a:ext cx="3535680" cy="2057400"/>
          </a:xfrm>
          <a:prstGeom prst="roundRect">
            <a:avLst/>
          </a:prstGeom>
          <a:solidFill>
            <a:srgbClr val="F0F5FF"/>
          </a:solidFill>
          <a:ln>
            <a:solidFill>
              <a:srgbClr val="C7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316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1F61"/>
                </a:solidFill>
                <a:latin typeface="Arial"/>
              </a:defRPr>
            </a:pPr>
            <a:r>
              <a:t>2.37s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316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00B24"/>
                </a:solidFill>
                <a:latin typeface="Arial"/>
              </a:defRPr>
            </a:pPr>
            <a:r>
              <a:t>One observed Pinecrest response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920" y="3017520"/>
            <a:ext cx="3535680" cy="2057400"/>
          </a:xfrm>
          <a:prstGeom prst="roundRect">
            <a:avLst/>
          </a:prstGeom>
          <a:solidFill>
            <a:srgbClr val="F0F5FF"/>
          </a:solidFill>
          <a:ln>
            <a:solidFill>
              <a:srgbClr val="C7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5800" y="3246120"/>
            <a:ext cx="316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1F61"/>
                </a:solidFill>
                <a:latin typeface="Arial"/>
              </a:defRPr>
            </a:pPr>
            <a:r>
              <a:t>1,460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800" y="4023360"/>
            <a:ext cx="316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00B24"/>
                </a:solidFill>
                <a:latin typeface="Arial"/>
              </a:defRPr>
            </a:pPr>
            <a:r>
              <a:t>Measured 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7200" y="3017520"/>
            <a:ext cx="3535680" cy="2057400"/>
          </a:xfrm>
          <a:prstGeom prst="roundRect">
            <a:avLst/>
          </a:prstGeom>
          <a:solidFill>
            <a:srgbClr val="F0F5FF"/>
          </a:solidFill>
          <a:ln>
            <a:solidFill>
              <a:srgbClr val="C7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0080" y="3246120"/>
            <a:ext cx="316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1F61"/>
                </a:solidFill>
                <a:latin typeface="Arial"/>
              </a:defRPr>
            </a:pPr>
            <a:r>
              <a:t>C05 + E05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0080" y="4023360"/>
            <a:ext cx="316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00B24"/>
                </a:solidFill>
                <a:latin typeface="Arial"/>
              </a:defRPr>
            </a:pPr>
            <a:r>
              <a:t>Canonical citations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492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B24"/>
                </a:solidFill>
                <a:latin typeface="Arial"/>
              </a:defRPr>
            </a:pPr>
            <a:r>
              <a:t>One request, no latency guarantee. Synthetic data; two personas; no proven uplift.</a:t>
            </a:r>
          </a:p>
          <a:p>
            <a:pPr>
              <a:defRPr sz="1600" b="0">
                <a:solidFill>
                  <a:srgbClr val="000B24"/>
                </a:solidFill>
                <a:latin typeface="Arial"/>
              </a:defRPr>
            </a:pPr>
            <a:r>
              <a:t>Demo: prioritize → inspect → prepare → copy.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0B24"/>
                </a:solidFill>
                <a:latin typeface="Arial"/>
              </a:defRPr>
            </a:pPr>
            <a:r>
              <a:t>MERIDIAN · Fictional brokerage · Synthetic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52FF"/>
                </a:solidFill>
                <a:latin typeface="Arial"/>
              </a:defRPr>
            </a:pPr>
            <a:r>
              <a:t>06/06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